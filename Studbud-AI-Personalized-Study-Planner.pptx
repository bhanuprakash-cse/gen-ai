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1430000" cy="6445250"/>
  <p:notesSz cx="11430000" cy="64452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114E72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2B404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114E72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2B404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114E72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114E72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C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3625" y="1997075"/>
            <a:ext cx="5350509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114E72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59387" y="2816225"/>
            <a:ext cx="5257165" cy="1393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2B404F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2225675"/>
            <a:ext cx="5299710" cy="11112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 spc="180"/>
              <a:t>Studbud:</a:t>
            </a:r>
            <a:r>
              <a:rPr dirty="0" spc="-85"/>
              <a:t> </a:t>
            </a:r>
            <a:r>
              <a:rPr dirty="0" spc="425"/>
              <a:t>AI</a:t>
            </a:r>
            <a:r>
              <a:rPr dirty="0" spc="20"/>
              <a:t> </a:t>
            </a:r>
            <a:r>
              <a:rPr dirty="0" spc="105"/>
              <a:t>Personalized </a:t>
            </a:r>
            <a:r>
              <a:rPr dirty="0" spc="254"/>
              <a:t>Study</a:t>
            </a:r>
            <a:r>
              <a:rPr dirty="0" spc="5"/>
              <a:t> </a:t>
            </a:r>
            <a:r>
              <a:rPr dirty="0" spc="105"/>
              <a:t>Planner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873625" y="3545840"/>
            <a:ext cx="5576570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50">
                <a:solidFill>
                  <a:srgbClr val="2B404F"/>
                </a:solidFill>
                <a:latin typeface="Tahoma"/>
                <a:cs typeface="Tahoma"/>
              </a:rPr>
              <a:t>Welcome</a:t>
            </a:r>
            <a:r>
              <a:rPr dirty="0" sz="1350" spc="-114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B404F"/>
                </a:solidFill>
                <a:latin typeface="Tahoma"/>
                <a:cs typeface="Tahoma"/>
              </a:rPr>
              <a:t>to</a:t>
            </a:r>
            <a:r>
              <a:rPr dirty="0" sz="1350" spc="-114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Studbud,</a:t>
            </a:r>
            <a:r>
              <a:rPr dirty="0" sz="1350" spc="-11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your</a:t>
            </a:r>
            <a:r>
              <a:rPr dirty="0" sz="1350" spc="-114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B404F"/>
                </a:solidFill>
                <a:latin typeface="Tahoma"/>
                <a:cs typeface="Tahoma"/>
              </a:rPr>
              <a:t>AI-</a:t>
            </a:r>
            <a:r>
              <a:rPr dirty="0" sz="1350" spc="-55">
                <a:solidFill>
                  <a:srgbClr val="2B404F"/>
                </a:solidFill>
                <a:latin typeface="Tahoma"/>
                <a:cs typeface="Tahoma"/>
              </a:rPr>
              <a:t>powered</a:t>
            </a:r>
            <a:r>
              <a:rPr dirty="0" sz="1350" spc="-114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study</a:t>
            </a:r>
            <a:r>
              <a:rPr dirty="0" sz="1350" spc="-11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companion</a:t>
            </a:r>
            <a:r>
              <a:rPr dirty="0" sz="1350" spc="-114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designed</a:t>
            </a:r>
            <a:r>
              <a:rPr dirty="0" sz="1350" spc="-11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B404F"/>
                </a:solidFill>
                <a:latin typeface="Tahoma"/>
                <a:cs typeface="Tahoma"/>
              </a:rPr>
              <a:t>to</a:t>
            </a:r>
            <a:r>
              <a:rPr dirty="0" sz="1350" spc="-114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B404F"/>
                </a:solidFill>
                <a:latin typeface="Tahoma"/>
                <a:cs typeface="Tahoma"/>
              </a:rPr>
              <a:t>help</a:t>
            </a:r>
            <a:r>
              <a:rPr dirty="0" sz="1350" spc="-114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you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maximize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your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study</a:t>
            </a:r>
            <a:r>
              <a:rPr dirty="0" sz="1350" spc="-114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B404F"/>
                </a:solidFill>
                <a:latin typeface="Tahoma"/>
                <a:cs typeface="Tahoma"/>
              </a:rPr>
              <a:t>time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and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achieve</a:t>
            </a:r>
            <a:r>
              <a:rPr dirty="0" sz="1350" spc="-114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your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academic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goals.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5" name="object 5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1825625"/>
            <a:ext cx="530669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14"/>
              <a:t>Personalized</a:t>
            </a:r>
            <a:r>
              <a:rPr dirty="0" spc="5"/>
              <a:t> </a:t>
            </a:r>
            <a:r>
              <a:rPr dirty="0" spc="254"/>
              <a:t>Study</a:t>
            </a:r>
            <a:r>
              <a:rPr dirty="0" spc="5"/>
              <a:t> </a:t>
            </a:r>
            <a:r>
              <a:rPr dirty="0" spc="120"/>
              <a:t>Plans</a:t>
            </a:r>
          </a:p>
        </p:txBody>
      </p:sp>
      <p:sp>
        <p:nvSpPr>
          <p:cNvPr id="6" name="object 6" descr=""/>
          <p:cNvSpPr/>
          <p:nvPr/>
        </p:nvSpPr>
        <p:spPr>
          <a:xfrm>
            <a:off x="600075" y="2828924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371936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369100"/>
                </a:lnTo>
                <a:lnTo>
                  <a:pt x="0" y="371932"/>
                </a:lnTo>
                <a:lnTo>
                  <a:pt x="18588" y="390525"/>
                </a:lnTo>
                <a:lnTo>
                  <a:pt x="371936" y="390525"/>
                </a:lnTo>
                <a:lnTo>
                  <a:pt x="390525" y="371932"/>
                </a:lnTo>
                <a:lnTo>
                  <a:pt x="390525" y="18592"/>
                </a:lnTo>
                <a:lnTo>
                  <a:pt x="374670" y="546"/>
                </a:lnTo>
                <a:lnTo>
                  <a:pt x="371936" y="0"/>
                </a:lnTo>
                <a:close/>
              </a:path>
            </a:pathLst>
          </a:custGeom>
          <a:solidFill>
            <a:srgbClr val="F3EE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719832" y="2844800"/>
            <a:ext cx="14605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20">
                <a:solidFill>
                  <a:srgbClr val="2B404F"/>
                </a:solidFill>
                <a:latin typeface="Microsoft Sans Serif"/>
                <a:cs typeface="Microsoft Sans Serif"/>
              </a:rPr>
              <a:t>1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44587" y="2764789"/>
            <a:ext cx="2273300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Studbud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2B404F"/>
                </a:solidFill>
                <a:latin typeface="Tahoma"/>
                <a:cs typeface="Tahoma"/>
              </a:rPr>
              <a:t>analyzes</a:t>
            </a:r>
            <a:r>
              <a:rPr dirty="0" sz="1350" spc="-10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your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learning </a:t>
            </a:r>
            <a:r>
              <a:rPr dirty="0" sz="1350" spc="-40">
                <a:solidFill>
                  <a:srgbClr val="2B404F"/>
                </a:solidFill>
                <a:latin typeface="Tahoma"/>
                <a:cs typeface="Tahoma"/>
              </a:rPr>
              <a:t>style,</a:t>
            </a:r>
            <a:r>
              <a:rPr dirty="0" sz="1350" spc="-11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2B404F"/>
                </a:solidFill>
                <a:latin typeface="Tahoma"/>
                <a:cs typeface="Tahoma"/>
              </a:rPr>
              <a:t>course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schedules,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and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individual</a:t>
            </a:r>
            <a:r>
              <a:rPr dirty="0" sz="1350" spc="-114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needs.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3657600" y="2828924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37193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369100"/>
                </a:lnTo>
                <a:lnTo>
                  <a:pt x="0" y="371932"/>
                </a:lnTo>
                <a:lnTo>
                  <a:pt x="18592" y="390525"/>
                </a:lnTo>
                <a:lnTo>
                  <a:pt x="371932" y="390525"/>
                </a:lnTo>
                <a:lnTo>
                  <a:pt x="390525" y="371932"/>
                </a:lnTo>
                <a:lnTo>
                  <a:pt x="390525" y="18592"/>
                </a:lnTo>
                <a:lnTo>
                  <a:pt x="374675" y="546"/>
                </a:lnTo>
                <a:lnTo>
                  <a:pt x="371932" y="0"/>
                </a:lnTo>
                <a:close/>
              </a:path>
            </a:pathLst>
          </a:custGeom>
          <a:solidFill>
            <a:srgbClr val="F3EE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3766197" y="2844800"/>
            <a:ext cx="16891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>
                <a:solidFill>
                  <a:srgbClr val="2B404F"/>
                </a:solidFill>
                <a:latin typeface="Microsoft Sans Serif"/>
                <a:cs typeface="Microsoft Sans Serif"/>
              </a:rPr>
              <a:t>2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202115" y="2764789"/>
            <a:ext cx="1997710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195">
                <a:solidFill>
                  <a:srgbClr val="2B404F"/>
                </a:solidFill>
                <a:latin typeface="Tahoma"/>
                <a:cs typeface="Tahoma"/>
              </a:rPr>
              <a:t>It</a:t>
            </a:r>
            <a:r>
              <a:rPr dirty="0" sz="1350" spc="8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2B404F"/>
                </a:solidFill>
                <a:latin typeface="Tahoma"/>
                <a:cs typeface="Tahoma"/>
              </a:rPr>
              <a:t>then</a:t>
            </a:r>
            <a:r>
              <a:rPr dirty="0" sz="1350" spc="-55">
                <a:solidFill>
                  <a:srgbClr val="2B404F"/>
                </a:solidFill>
                <a:latin typeface="Tahoma"/>
                <a:cs typeface="Tahoma"/>
              </a:rPr>
              <a:t> creates</a:t>
            </a:r>
            <a:r>
              <a:rPr dirty="0" sz="1350" spc="-15">
                <a:solidFill>
                  <a:srgbClr val="2B404F"/>
                </a:solidFill>
                <a:latin typeface="Tahoma"/>
                <a:cs typeface="Tahoma"/>
              </a:rPr>
              <a:t> personalized </a:t>
            </a:r>
            <a:r>
              <a:rPr dirty="0" sz="1350" spc="-55">
                <a:solidFill>
                  <a:srgbClr val="2B404F"/>
                </a:solidFill>
                <a:latin typeface="Tahoma"/>
                <a:cs typeface="Tahoma"/>
              </a:rPr>
              <a:t>study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plans</a:t>
            </a:r>
            <a:r>
              <a:rPr dirty="0" sz="1350" spc="-5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tailored</a:t>
            </a:r>
            <a:r>
              <a:rPr dirty="0" sz="1350" spc="-4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80">
                <a:solidFill>
                  <a:srgbClr val="2B404F"/>
                </a:solidFill>
                <a:latin typeface="Tahoma"/>
                <a:cs typeface="Tahoma"/>
              </a:rPr>
              <a:t>to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B404F"/>
                </a:solidFill>
                <a:latin typeface="Tahoma"/>
                <a:cs typeface="Tahoma"/>
              </a:rPr>
              <a:t>your unique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requirements.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600075" y="4019550"/>
            <a:ext cx="390525" cy="381000"/>
          </a:xfrm>
          <a:custGeom>
            <a:avLst/>
            <a:gdLst/>
            <a:ahLst/>
            <a:cxnLst/>
            <a:rect l="l" t="t" r="r" b="b"/>
            <a:pathLst>
              <a:path w="390525" h="381000">
                <a:moveTo>
                  <a:pt x="371936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359575"/>
                </a:lnTo>
                <a:lnTo>
                  <a:pt x="0" y="362407"/>
                </a:lnTo>
                <a:lnTo>
                  <a:pt x="18588" y="381000"/>
                </a:lnTo>
                <a:lnTo>
                  <a:pt x="371936" y="381000"/>
                </a:lnTo>
                <a:lnTo>
                  <a:pt x="390525" y="362407"/>
                </a:lnTo>
                <a:lnTo>
                  <a:pt x="390525" y="18592"/>
                </a:lnTo>
                <a:lnTo>
                  <a:pt x="374670" y="546"/>
                </a:lnTo>
                <a:lnTo>
                  <a:pt x="371936" y="0"/>
                </a:lnTo>
                <a:close/>
              </a:path>
            </a:pathLst>
          </a:custGeom>
          <a:solidFill>
            <a:srgbClr val="F3EE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707925" y="4025900"/>
            <a:ext cx="17018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>
                <a:solidFill>
                  <a:srgbClr val="2B404F"/>
                </a:solidFill>
                <a:latin typeface="Microsoft Sans Serif"/>
                <a:cs typeface="Microsoft Sans Serif"/>
              </a:rPr>
              <a:t>3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44587" y="4025900"/>
            <a:ext cx="489585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This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approach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2B404F"/>
                </a:solidFill>
                <a:latin typeface="Tahoma"/>
                <a:cs typeface="Tahoma"/>
              </a:rPr>
              <a:t>ensures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efficient</a:t>
            </a:r>
            <a:r>
              <a:rPr dirty="0" sz="1350" spc="-114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learning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and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B404F"/>
                </a:solidFill>
                <a:latin typeface="Tahoma"/>
                <a:cs typeface="Tahoma"/>
              </a:rPr>
              <a:t>helps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you</a:t>
            </a:r>
            <a:r>
              <a:rPr dirty="0" sz="1350" spc="-114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2B404F"/>
                </a:solidFill>
                <a:latin typeface="Tahoma"/>
                <a:cs typeface="Tahoma"/>
              </a:rPr>
              <a:t>stay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B404F"/>
                </a:solidFill>
                <a:latin typeface="Tahoma"/>
                <a:cs typeface="Tahoma"/>
              </a:rPr>
              <a:t>on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track.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1425575"/>
            <a:ext cx="456628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235"/>
              <a:t>Intelligent</a:t>
            </a:r>
            <a:r>
              <a:rPr dirty="0" spc="40"/>
              <a:t> </a:t>
            </a:r>
            <a:r>
              <a:rPr dirty="0" spc="85"/>
              <a:t>Scheduling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4950625" y="2247899"/>
            <a:ext cx="971550" cy="2743200"/>
            <a:chOff x="4950625" y="2247899"/>
            <a:chExt cx="971550" cy="2743200"/>
          </a:xfrm>
        </p:grpSpPr>
        <p:sp>
          <p:nvSpPr>
            <p:cNvPr id="5" name="object 5" descr=""/>
            <p:cNvSpPr/>
            <p:nvPr/>
          </p:nvSpPr>
          <p:spPr>
            <a:xfrm>
              <a:off x="5133975" y="2247899"/>
              <a:ext cx="788670" cy="2743200"/>
            </a:xfrm>
            <a:custGeom>
              <a:avLst/>
              <a:gdLst/>
              <a:ahLst/>
              <a:cxnLst/>
              <a:rect l="l" t="t" r="r" b="b"/>
              <a:pathLst>
                <a:path w="788670" h="2743200">
                  <a:moveTo>
                    <a:pt x="19050" y="6896"/>
                  </a:move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2733675"/>
                  </a:lnTo>
                  <a:lnTo>
                    <a:pt x="0" y="2736304"/>
                  </a:lnTo>
                  <a:lnTo>
                    <a:pt x="927" y="2738564"/>
                  </a:lnTo>
                  <a:lnTo>
                    <a:pt x="4648" y="2742273"/>
                  </a:lnTo>
                  <a:lnTo>
                    <a:pt x="6896" y="2743200"/>
                  </a:lnTo>
                  <a:lnTo>
                    <a:pt x="12153" y="2743200"/>
                  </a:lnTo>
                  <a:lnTo>
                    <a:pt x="14401" y="2742273"/>
                  </a:lnTo>
                  <a:lnTo>
                    <a:pt x="18122" y="2738564"/>
                  </a:lnTo>
                  <a:lnTo>
                    <a:pt x="19050" y="2736304"/>
                  </a:lnTo>
                  <a:lnTo>
                    <a:pt x="19050" y="6896"/>
                  </a:lnTo>
                  <a:close/>
                </a:path>
                <a:path w="788670" h="2743200">
                  <a:moveTo>
                    <a:pt x="788200" y="378371"/>
                  </a:moveTo>
                  <a:lnTo>
                    <a:pt x="787260" y="376123"/>
                  </a:lnTo>
                  <a:lnTo>
                    <a:pt x="783539" y="372402"/>
                  </a:lnTo>
                  <a:lnTo>
                    <a:pt x="781304" y="371475"/>
                  </a:lnTo>
                  <a:lnTo>
                    <a:pt x="195008" y="371475"/>
                  </a:lnTo>
                  <a:lnTo>
                    <a:pt x="192773" y="372402"/>
                  </a:lnTo>
                  <a:lnTo>
                    <a:pt x="189039" y="376123"/>
                  </a:lnTo>
                  <a:lnTo>
                    <a:pt x="188125" y="378371"/>
                  </a:lnTo>
                  <a:lnTo>
                    <a:pt x="188125" y="381000"/>
                  </a:lnTo>
                  <a:lnTo>
                    <a:pt x="188125" y="383628"/>
                  </a:lnTo>
                  <a:lnTo>
                    <a:pt x="189039" y="385876"/>
                  </a:lnTo>
                  <a:lnTo>
                    <a:pt x="192773" y="389597"/>
                  </a:lnTo>
                  <a:lnTo>
                    <a:pt x="195008" y="390525"/>
                  </a:lnTo>
                  <a:lnTo>
                    <a:pt x="781304" y="390525"/>
                  </a:lnTo>
                  <a:lnTo>
                    <a:pt x="783539" y="389597"/>
                  </a:lnTo>
                  <a:lnTo>
                    <a:pt x="787260" y="385876"/>
                  </a:lnTo>
                  <a:lnTo>
                    <a:pt x="788200" y="383628"/>
                  </a:lnTo>
                  <a:lnTo>
                    <a:pt x="788200" y="378371"/>
                  </a:lnTo>
                  <a:close/>
                </a:path>
              </a:pathLst>
            </a:custGeom>
            <a:solidFill>
              <a:srgbClr val="D9D4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50625" y="2438399"/>
              <a:ext cx="390525" cy="381000"/>
            </a:xfrm>
            <a:custGeom>
              <a:avLst/>
              <a:gdLst/>
              <a:ahLst/>
              <a:cxnLst/>
              <a:rect l="l" t="t" r="r" b="b"/>
              <a:pathLst>
                <a:path w="390525" h="381000">
                  <a:moveTo>
                    <a:pt x="371932" y="0"/>
                  </a:moveTo>
                  <a:lnTo>
                    <a:pt x="18580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359575"/>
                  </a:lnTo>
                  <a:lnTo>
                    <a:pt x="0" y="362407"/>
                  </a:lnTo>
                  <a:lnTo>
                    <a:pt x="18580" y="381000"/>
                  </a:lnTo>
                  <a:lnTo>
                    <a:pt x="371932" y="381000"/>
                  </a:lnTo>
                  <a:lnTo>
                    <a:pt x="390525" y="362407"/>
                  </a:lnTo>
                  <a:lnTo>
                    <a:pt x="390525" y="18592"/>
                  </a:lnTo>
                  <a:lnTo>
                    <a:pt x="374662" y="546"/>
                  </a:lnTo>
                  <a:lnTo>
                    <a:pt x="371932" y="0"/>
                  </a:lnTo>
                  <a:close/>
                </a:path>
              </a:pathLst>
            </a:custGeom>
            <a:solidFill>
              <a:srgbClr val="F3EEE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5070373" y="2454275"/>
            <a:ext cx="14605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20">
                <a:solidFill>
                  <a:srgbClr val="2B404F"/>
                </a:solidFill>
                <a:latin typeface="Microsoft Sans Serif"/>
                <a:cs typeface="Microsoft Sans Serif"/>
              </a:rPr>
              <a:t>1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073772" y="2364739"/>
            <a:ext cx="4460240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Studbud</a:t>
            </a:r>
            <a:r>
              <a:rPr dirty="0" sz="1350" spc="-11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2B404F"/>
                </a:solidFill>
                <a:latin typeface="Tahoma"/>
                <a:cs typeface="Tahoma"/>
              </a:rPr>
              <a:t>integrates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with</a:t>
            </a:r>
            <a:r>
              <a:rPr dirty="0" sz="1350" spc="-11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your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calendar</a:t>
            </a:r>
            <a:r>
              <a:rPr dirty="0" sz="1350" spc="-11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and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2B404F"/>
                </a:solidFill>
                <a:latin typeface="Tahoma"/>
                <a:cs typeface="Tahoma"/>
              </a:rPr>
              <a:t>analyzes</a:t>
            </a:r>
            <a:r>
              <a:rPr dirty="0" sz="1350" spc="-11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your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daily schedule.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950625" y="3495675"/>
            <a:ext cx="971550" cy="390525"/>
            <a:chOff x="4950625" y="3495675"/>
            <a:chExt cx="971550" cy="390525"/>
          </a:xfrm>
        </p:grpSpPr>
        <p:sp>
          <p:nvSpPr>
            <p:cNvPr id="10" name="object 10" descr=""/>
            <p:cNvSpPr/>
            <p:nvPr/>
          </p:nvSpPr>
          <p:spPr>
            <a:xfrm>
              <a:off x="5322100" y="3686175"/>
              <a:ext cx="600075" cy="19050"/>
            </a:xfrm>
            <a:custGeom>
              <a:avLst/>
              <a:gdLst/>
              <a:ahLst/>
              <a:cxnLst/>
              <a:rect l="l" t="t" r="r" b="b"/>
              <a:pathLst>
                <a:path w="600075" h="19050">
                  <a:moveTo>
                    <a:pt x="593178" y="0"/>
                  </a:move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83" y="19050"/>
                  </a:lnTo>
                  <a:lnTo>
                    <a:pt x="593178" y="19050"/>
                  </a:lnTo>
                  <a:lnTo>
                    <a:pt x="595414" y="18122"/>
                  </a:lnTo>
                  <a:lnTo>
                    <a:pt x="599135" y="14401"/>
                  </a:lnTo>
                  <a:lnTo>
                    <a:pt x="600075" y="12153"/>
                  </a:lnTo>
                  <a:lnTo>
                    <a:pt x="600075" y="6896"/>
                  </a:lnTo>
                  <a:lnTo>
                    <a:pt x="599135" y="4648"/>
                  </a:lnTo>
                  <a:lnTo>
                    <a:pt x="595414" y="927"/>
                  </a:lnTo>
                  <a:lnTo>
                    <a:pt x="593178" y="0"/>
                  </a:lnTo>
                  <a:close/>
                </a:path>
              </a:pathLst>
            </a:custGeom>
            <a:solidFill>
              <a:srgbClr val="D9D4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950625" y="3495675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371932" y="0"/>
                  </a:moveTo>
                  <a:lnTo>
                    <a:pt x="18580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369100"/>
                  </a:lnTo>
                  <a:lnTo>
                    <a:pt x="0" y="371932"/>
                  </a:lnTo>
                  <a:lnTo>
                    <a:pt x="18580" y="390525"/>
                  </a:lnTo>
                  <a:lnTo>
                    <a:pt x="371932" y="390525"/>
                  </a:lnTo>
                  <a:lnTo>
                    <a:pt x="390525" y="371932"/>
                  </a:lnTo>
                  <a:lnTo>
                    <a:pt x="390525" y="18592"/>
                  </a:lnTo>
                  <a:lnTo>
                    <a:pt x="374662" y="546"/>
                  </a:lnTo>
                  <a:lnTo>
                    <a:pt x="371932" y="0"/>
                  </a:lnTo>
                  <a:close/>
                </a:path>
              </a:pathLst>
            </a:custGeom>
            <a:solidFill>
              <a:srgbClr val="F3EEE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059210" y="3511550"/>
            <a:ext cx="16891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>
                <a:solidFill>
                  <a:srgbClr val="2B404F"/>
                </a:solidFill>
                <a:latin typeface="Microsoft Sans Serif"/>
                <a:cs typeface="Microsoft Sans Serif"/>
              </a:rPr>
              <a:t>2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073771" y="3482975"/>
            <a:ext cx="469074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80">
                <a:solidFill>
                  <a:srgbClr val="2B404F"/>
                </a:solidFill>
                <a:latin typeface="Tahoma"/>
                <a:cs typeface="Tahoma"/>
              </a:rPr>
              <a:t>It</a:t>
            </a:r>
            <a:r>
              <a:rPr dirty="0" sz="1350" spc="-12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B404F"/>
                </a:solidFill>
                <a:latin typeface="Tahoma"/>
                <a:cs typeface="Tahoma"/>
              </a:rPr>
              <a:t>intelligently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schedules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study</a:t>
            </a:r>
            <a:r>
              <a:rPr dirty="0" sz="1350" spc="-12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sessions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that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fit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into</a:t>
            </a:r>
            <a:r>
              <a:rPr dirty="0" sz="1350" spc="-12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your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busy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life.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4950625" y="4286250"/>
            <a:ext cx="971550" cy="390525"/>
            <a:chOff x="4950625" y="4286250"/>
            <a:chExt cx="971550" cy="390525"/>
          </a:xfrm>
        </p:grpSpPr>
        <p:sp>
          <p:nvSpPr>
            <p:cNvPr id="15" name="object 15" descr=""/>
            <p:cNvSpPr/>
            <p:nvPr/>
          </p:nvSpPr>
          <p:spPr>
            <a:xfrm>
              <a:off x="5322100" y="4476750"/>
              <a:ext cx="600075" cy="19050"/>
            </a:xfrm>
            <a:custGeom>
              <a:avLst/>
              <a:gdLst/>
              <a:ahLst/>
              <a:cxnLst/>
              <a:rect l="l" t="t" r="r" b="b"/>
              <a:pathLst>
                <a:path w="600075" h="19050">
                  <a:moveTo>
                    <a:pt x="593178" y="0"/>
                  </a:move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83" y="19050"/>
                  </a:lnTo>
                  <a:lnTo>
                    <a:pt x="593178" y="19050"/>
                  </a:lnTo>
                  <a:lnTo>
                    <a:pt x="595414" y="18122"/>
                  </a:lnTo>
                  <a:lnTo>
                    <a:pt x="599135" y="14401"/>
                  </a:lnTo>
                  <a:lnTo>
                    <a:pt x="600075" y="12153"/>
                  </a:lnTo>
                  <a:lnTo>
                    <a:pt x="600075" y="6896"/>
                  </a:lnTo>
                  <a:lnTo>
                    <a:pt x="599135" y="4648"/>
                  </a:lnTo>
                  <a:lnTo>
                    <a:pt x="595414" y="927"/>
                  </a:lnTo>
                  <a:lnTo>
                    <a:pt x="593178" y="0"/>
                  </a:lnTo>
                  <a:close/>
                </a:path>
              </a:pathLst>
            </a:custGeom>
            <a:solidFill>
              <a:srgbClr val="D9D4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950625" y="4286250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371932" y="0"/>
                  </a:moveTo>
                  <a:lnTo>
                    <a:pt x="18580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369100"/>
                  </a:lnTo>
                  <a:lnTo>
                    <a:pt x="0" y="371932"/>
                  </a:lnTo>
                  <a:lnTo>
                    <a:pt x="18580" y="390525"/>
                  </a:lnTo>
                  <a:lnTo>
                    <a:pt x="371932" y="390525"/>
                  </a:lnTo>
                  <a:lnTo>
                    <a:pt x="390525" y="371932"/>
                  </a:lnTo>
                  <a:lnTo>
                    <a:pt x="390525" y="18592"/>
                  </a:lnTo>
                  <a:lnTo>
                    <a:pt x="374662" y="546"/>
                  </a:lnTo>
                  <a:lnTo>
                    <a:pt x="371932" y="0"/>
                  </a:lnTo>
                  <a:close/>
                </a:path>
              </a:pathLst>
            </a:custGeom>
            <a:solidFill>
              <a:srgbClr val="F3EEE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5058473" y="4302125"/>
            <a:ext cx="17018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>
                <a:solidFill>
                  <a:srgbClr val="2B404F"/>
                </a:solidFill>
                <a:latin typeface="Microsoft Sans Serif"/>
                <a:cs typeface="Microsoft Sans Serif"/>
              </a:rPr>
              <a:t>3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073778" y="4203065"/>
            <a:ext cx="4557395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This</a:t>
            </a:r>
            <a:r>
              <a:rPr dirty="0" sz="1350" spc="-12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minimizes</a:t>
            </a:r>
            <a:r>
              <a:rPr dirty="0" sz="1350" spc="-114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disruption</a:t>
            </a:r>
            <a:r>
              <a:rPr dirty="0" sz="1350" spc="-114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and</a:t>
            </a:r>
            <a:r>
              <a:rPr dirty="0" sz="1350" spc="-114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2B404F"/>
                </a:solidFill>
                <a:latin typeface="Tahoma"/>
                <a:cs typeface="Tahoma"/>
              </a:rPr>
              <a:t>ensures</a:t>
            </a:r>
            <a:r>
              <a:rPr dirty="0" sz="1350" spc="-114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you</a:t>
            </a:r>
            <a:r>
              <a:rPr dirty="0" sz="1350" spc="-114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2B404F"/>
                </a:solidFill>
                <a:latin typeface="Tahoma"/>
                <a:cs typeface="Tahoma"/>
              </a:rPr>
              <a:t>have</a:t>
            </a:r>
            <a:r>
              <a:rPr dirty="0" sz="1350" spc="-114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dedicated</a:t>
            </a:r>
            <a:r>
              <a:rPr dirty="0" sz="1350" spc="-114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B404F"/>
                </a:solidFill>
                <a:latin typeface="Tahoma"/>
                <a:cs typeface="Tahoma"/>
              </a:rPr>
              <a:t>time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for</a:t>
            </a:r>
            <a:r>
              <a:rPr dirty="0" sz="1350" spc="-14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learning.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19" name="object 19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2368550"/>
            <a:ext cx="56032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215"/>
              <a:t>Adaptive</a:t>
            </a:r>
            <a:r>
              <a:rPr dirty="0" spc="15"/>
              <a:t> </a:t>
            </a:r>
            <a:r>
              <a:rPr dirty="0" spc="110"/>
              <a:t>Learning</a:t>
            </a:r>
            <a:r>
              <a:rPr dirty="0" spc="20"/>
              <a:t> </a:t>
            </a:r>
            <a:r>
              <a:rPr dirty="0" spc="200"/>
              <a:t>Support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87375" y="3279140"/>
            <a:ext cx="4580890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Studbud</a:t>
            </a:r>
            <a:r>
              <a:rPr dirty="0" sz="1350" spc="-10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provides</a:t>
            </a:r>
            <a:r>
              <a:rPr dirty="0" sz="1350" spc="-9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adaptive</a:t>
            </a:r>
            <a:r>
              <a:rPr dirty="0" sz="1350" spc="-10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learning</a:t>
            </a:r>
            <a:r>
              <a:rPr dirty="0" sz="1350" spc="-9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B404F"/>
                </a:solidFill>
                <a:latin typeface="Tahoma"/>
                <a:cs typeface="Tahoma"/>
              </a:rPr>
              <a:t>support</a:t>
            </a:r>
            <a:r>
              <a:rPr dirty="0" sz="1350" spc="-10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through</a:t>
            </a:r>
            <a:r>
              <a:rPr dirty="0" sz="1350" spc="-9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interactive exercises.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920930" y="3279140"/>
            <a:ext cx="4309745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80">
                <a:solidFill>
                  <a:srgbClr val="2B404F"/>
                </a:solidFill>
                <a:latin typeface="Tahoma"/>
                <a:cs typeface="Tahoma"/>
              </a:rPr>
              <a:t>It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2B404F"/>
                </a:solidFill>
                <a:latin typeface="Tahoma"/>
                <a:cs typeface="Tahoma"/>
              </a:rPr>
              <a:t>adjusts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B404F"/>
                </a:solidFill>
                <a:latin typeface="Tahoma"/>
                <a:cs typeface="Tahoma"/>
              </a:rPr>
              <a:t>difficulty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levels</a:t>
            </a:r>
            <a:r>
              <a:rPr dirty="0" sz="1350" spc="-10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based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2B404F"/>
                </a:solidFill>
                <a:latin typeface="Tahoma"/>
                <a:cs typeface="Tahoma"/>
              </a:rPr>
              <a:t>on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your</a:t>
            </a:r>
            <a:r>
              <a:rPr dirty="0" sz="1350" spc="-10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2B404F"/>
                </a:solidFill>
                <a:latin typeface="Tahoma"/>
                <a:cs typeface="Tahoma"/>
              </a:rPr>
              <a:t>progress,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B404F"/>
                </a:solidFill>
                <a:latin typeface="Tahoma"/>
                <a:cs typeface="Tahoma"/>
              </a:rPr>
              <a:t>ensuring</a:t>
            </a:r>
            <a:r>
              <a:rPr dirty="0" sz="1350" spc="-105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2B404F"/>
                </a:solidFill>
                <a:latin typeface="Tahoma"/>
                <a:cs typeface="Tahoma"/>
              </a:rPr>
              <a:t>a </a:t>
            </a:r>
            <a:r>
              <a:rPr dirty="0" sz="1350" spc="-25">
                <a:solidFill>
                  <a:srgbClr val="2B404F"/>
                </a:solidFill>
                <a:latin typeface="Tahoma"/>
                <a:cs typeface="Tahoma"/>
              </a:rPr>
              <a:t>challenging</a:t>
            </a:r>
            <a:r>
              <a:rPr dirty="0" sz="1350" spc="-10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and</a:t>
            </a:r>
            <a:r>
              <a:rPr dirty="0" sz="1350" spc="-10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2B404F"/>
                </a:solidFill>
                <a:latin typeface="Tahoma"/>
                <a:cs typeface="Tahoma"/>
              </a:rPr>
              <a:t>effective</a:t>
            </a:r>
            <a:r>
              <a:rPr dirty="0" sz="1350" spc="-10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B404F"/>
                </a:solidFill>
                <a:latin typeface="Tahoma"/>
                <a:cs typeface="Tahoma"/>
              </a:rPr>
              <a:t>learning</a:t>
            </a:r>
            <a:r>
              <a:rPr dirty="0" sz="1350" spc="-10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B404F"/>
                </a:solidFill>
                <a:latin typeface="Tahoma"/>
                <a:cs typeface="Tahoma"/>
              </a:rPr>
              <a:t>experience.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5" name="object 5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95"/>
              <a:t>Elevate</a:t>
            </a:r>
            <a:r>
              <a:rPr dirty="0" spc="-265"/>
              <a:t> </a:t>
            </a:r>
            <a:r>
              <a:rPr dirty="0" spc="130"/>
              <a:t>Your</a:t>
            </a:r>
            <a:r>
              <a:rPr dirty="0" spc="15"/>
              <a:t> </a:t>
            </a:r>
            <a:r>
              <a:rPr dirty="0" spc="254"/>
              <a:t>Study</a:t>
            </a:r>
            <a:r>
              <a:rPr dirty="0" spc="15"/>
              <a:t> </a:t>
            </a:r>
            <a:r>
              <a:rPr dirty="0" spc="204"/>
              <a:t>Game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4886325" y="2809874"/>
            <a:ext cx="133350" cy="276225"/>
          </a:xfrm>
          <a:custGeom>
            <a:avLst/>
            <a:gdLst/>
            <a:ahLst/>
            <a:cxnLst/>
            <a:rect l="l" t="t" r="r" b="b"/>
            <a:pathLst>
              <a:path w="133350" h="276225">
                <a:moveTo>
                  <a:pt x="11475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54800"/>
                </a:lnTo>
                <a:lnTo>
                  <a:pt x="0" y="257632"/>
                </a:lnTo>
                <a:lnTo>
                  <a:pt x="18592" y="276225"/>
                </a:lnTo>
                <a:lnTo>
                  <a:pt x="114757" y="276225"/>
                </a:lnTo>
                <a:lnTo>
                  <a:pt x="133350" y="257632"/>
                </a:lnTo>
                <a:lnTo>
                  <a:pt x="133350" y="18592"/>
                </a:lnTo>
                <a:lnTo>
                  <a:pt x="117500" y="546"/>
                </a:lnTo>
                <a:lnTo>
                  <a:pt x="114757" y="0"/>
                </a:lnTo>
                <a:close/>
              </a:path>
            </a:pathLst>
          </a:custGeom>
          <a:solidFill>
            <a:srgbClr val="F3EE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143500" y="3257550"/>
            <a:ext cx="133350" cy="542925"/>
          </a:xfrm>
          <a:custGeom>
            <a:avLst/>
            <a:gdLst/>
            <a:ahLst/>
            <a:cxnLst/>
            <a:rect l="l" t="t" r="r" b="b"/>
            <a:pathLst>
              <a:path w="133350" h="542925">
                <a:moveTo>
                  <a:pt x="11475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521500"/>
                </a:lnTo>
                <a:lnTo>
                  <a:pt x="0" y="524332"/>
                </a:lnTo>
                <a:lnTo>
                  <a:pt x="18592" y="542925"/>
                </a:lnTo>
                <a:lnTo>
                  <a:pt x="114757" y="542925"/>
                </a:lnTo>
                <a:lnTo>
                  <a:pt x="133350" y="524332"/>
                </a:lnTo>
                <a:lnTo>
                  <a:pt x="133350" y="18592"/>
                </a:lnTo>
                <a:lnTo>
                  <a:pt x="117500" y="546"/>
                </a:lnTo>
                <a:lnTo>
                  <a:pt x="114757" y="0"/>
                </a:lnTo>
                <a:close/>
              </a:path>
            </a:pathLst>
          </a:custGeom>
          <a:solidFill>
            <a:srgbClr val="F3EE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400675" y="3971925"/>
            <a:ext cx="133350" cy="276225"/>
          </a:xfrm>
          <a:custGeom>
            <a:avLst/>
            <a:gdLst/>
            <a:ahLst/>
            <a:cxnLst/>
            <a:rect l="l" t="t" r="r" b="b"/>
            <a:pathLst>
              <a:path w="133350" h="276225">
                <a:moveTo>
                  <a:pt x="11475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254800"/>
                </a:lnTo>
                <a:lnTo>
                  <a:pt x="0" y="257632"/>
                </a:lnTo>
                <a:lnTo>
                  <a:pt x="18592" y="276225"/>
                </a:lnTo>
                <a:lnTo>
                  <a:pt x="114757" y="276225"/>
                </a:lnTo>
                <a:lnTo>
                  <a:pt x="133350" y="257632"/>
                </a:lnTo>
                <a:lnTo>
                  <a:pt x="133350" y="18592"/>
                </a:lnTo>
                <a:lnTo>
                  <a:pt x="117500" y="546"/>
                </a:lnTo>
                <a:lnTo>
                  <a:pt x="114757" y="0"/>
                </a:lnTo>
                <a:close/>
              </a:path>
            </a:pathLst>
          </a:custGeom>
          <a:solidFill>
            <a:srgbClr val="F3EE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Studbud</a:t>
            </a:r>
            <a:r>
              <a:rPr dirty="0" spc="-125"/>
              <a:t> </a:t>
            </a:r>
            <a:r>
              <a:rPr dirty="0" spc="-10"/>
              <a:t>is</a:t>
            </a:r>
            <a:r>
              <a:rPr dirty="0" spc="-120"/>
              <a:t> </a:t>
            </a:r>
            <a:r>
              <a:rPr dirty="0" spc="-35"/>
              <a:t>your</a:t>
            </a:r>
            <a:r>
              <a:rPr dirty="0" spc="-120"/>
              <a:t> </a:t>
            </a:r>
            <a:r>
              <a:rPr dirty="0" spc="-40"/>
              <a:t>secret</a:t>
            </a:r>
            <a:r>
              <a:rPr dirty="0" spc="-125"/>
              <a:t> </a:t>
            </a:r>
            <a:r>
              <a:rPr dirty="0" spc="-35"/>
              <a:t>weapon</a:t>
            </a:r>
            <a:r>
              <a:rPr dirty="0" spc="-120"/>
              <a:t> </a:t>
            </a:r>
            <a:r>
              <a:rPr dirty="0" spc="-35"/>
              <a:t>for</a:t>
            </a:r>
            <a:r>
              <a:rPr dirty="0" spc="-120"/>
              <a:t> </a:t>
            </a:r>
            <a:r>
              <a:rPr dirty="0" spc="-25"/>
              <a:t>academic</a:t>
            </a:r>
            <a:r>
              <a:rPr dirty="0" spc="-125"/>
              <a:t> </a:t>
            </a:r>
            <a:r>
              <a:rPr dirty="0" spc="-10"/>
              <a:t>success.</a:t>
            </a:r>
          </a:p>
          <a:p>
            <a:pPr marL="269875" marR="5080">
              <a:lnSpc>
                <a:spcPct val="134300"/>
              </a:lnSpc>
              <a:spcBef>
                <a:spcPts val="1350"/>
              </a:spcBef>
            </a:pPr>
            <a:r>
              <a:rPr dirty="0" spc="-35"/>
              <a:t>Sign</a:t>
            </a:r>
            <a:r>
              <a:rPr dirty="0" spc="-130"/>
              <a:t> </a:t>
            </a:r>
            <a:r>
              <a:rPr dirty="0" spc="-15"/>
              <a:t>up</a:t>
            </a:r>
            <a:r>
              <a:rPr dirty="0" spc="-130"/>
              <a:t> </a:t>
            </a:r>
            <a:r>
              <a:rPr dirty="0" spc="-35"/>
              <a:t>for</a:t>
            </a:r>
            <a:r>
              <a:rPr dirty="0" spc="-130"/>
              <a:t> </a:t>
            </a:r>
            <a:r>
              <a:rPr dirty="0" spc="-45"/>
              <a:t>a</a:t>
            </a:r>
            <a:r>
              <a:rPr dirty="0" spc="-130"/>
              <a:t> </a:t>
            </a:r>
            <a:r>
              <a:rPr dirty="0" spc="-50"/>
              <a:t>free</a:t>
            </a:r>
            <a:r>
              <a:rPr dirty="0" spc="-130"/>
              <a:t> </a:t>
            </a:r>
            <a:r>
              <a:rPr dirty="0"/>
              <a:t>trial</a:t>
            </a:r>
            <a:r>
              <a:rPr dirty="0" spc="-125"/>
              <a:t> </a:t>
            </a:r>
            <a:r>
              <a:rPr dirty="0" spc="-30"/>
              <a:t>and</a:t>
            </a:r>
            <a:r>
              <a:rPr dirty="0" spc="-130"/>
              <a:t> </a:t>
            </a:r>
            <a:r>
              <a:rPr dirty="0" spc="-40"/>
              <a:t>experience</a:t>
            </a:r>
            <a:r>
              <a:rPr dirty="0" spc="-130"/>
              <a:t> </a:t>
            </a:r>
            <a:r>
              <a:rPr dirty="0" spc="-25"/>
              <a:t>the</a:t>
            </a:r>
            <a:r>
              <a:rPr dirty="0" spc="-130"/>
              <a:t> </a:t>
            </a:r>
            <a:r>
              <a:rPr dirty="0" spc="-35"/>
              <a:t>power</a:t>
            </a:r>
            <a:r>
              <a:rPr dirty="0" spc="-130"/>
              <a:t> </a:t>
            </a:r>
            <a:r>
              <a:rPr dirty="0" spc="-30"/>
              <a:t>of</a:t>
            </a:r>
            <a:r>
              <a:rPr dirty="0" spc="-125"/>
              <a:t> </a:t>
            </a:r>
            <a:r>
              <a:rPr dirty="0" spc="-25"/>
              <a:t>personalized</a:t>
            </a:r>
            <a:r>
              <a:rPr dirty="0" spc="-130"/>
              <a:t> </a:t>
            </a:r>
            <a:r>
              <a:rPr dirty="0" spc="-10"/>
              <a:t>study plans.</a:t>
            </a:r>
          </a:p>
          <a:p>
            <a:pPr>
              <a:lnSpc>
                <a:spcPct val="100000"/>
              </a:lnSpc>
              <a:spcBef>
                <a:spcPts val="195"/>
              </a:spcBef>
            </a:pPr>
          </a:p>
          <a:p>
            <a:pPr marL="527050">
              <a:lnSpc>
                <a:spcPct val="100000"/>
              </a:lnSpc>
              <a:spcBef>
                <a:spcPts val="5"/>
              </a:spcBef>
            </a:pPr>
            <a:r>
              <a:rPr dirty="0" spc="-50"/>
              <a:t>Reach</a:t>
            </a:r>
            <a:r>
              <a:rPr dirty="0" spc="-135"/>
              <a:t> </a:t>
            </a:r>
            <a:r>
              <a:rPr dirty="0" spc="-35"/>
              <a:t>your</a:t>
            </a:r>
            <a:r>
              <a:rPr dirty="0" spc="-135"/>
              <a:t> </a:t>
            </a:r>
            <a:r>
              <a:rPr dirty="0"/>
              <a:t>full</a:t>
            </a:r>
            <a:r>
              <a:rPr dirty="0" spc="-135"/>
              <a:t> </a:t>
            </a:r>
            <a:r>
              <a:rPr dirty="0" spc="-25"/>
              <a:t>academic</a:t>
            </a:r>
            <a:r>
              <a:rPr dirty="0" spc="-135"/>
              <a:t> </a:t>
            </a:r>
            <a:r>
              <a:rPr dirty="0" spc="-10"/>
              <a:t>potential</a:t>
            </a:r>
            <a:r>
              <a:rPr dirty="0" spc="-135"/>
              <a:t> </a:t>
            </a:r>
            <a:r>
              <a:rPr dirty="0" spc="-30"/>
              <a:t>and</a:t>
            </a:r>
            <a:r>
              <a:rPr dirty="0" spc="-135"/>
              <a:t> </a:t>
            </a:r>
            <a:r>
              <a:rPr dirty="0" spc="-50"/>
              <a:t>excel</a:t>
            </a:r>
            <a:r>
              <a:rPr dirty="0" spc="-135"/>
              <a:t> </a:t>
            </a:r>
            <a:r>
              <a:rPr dirty="0"/>
              <a:t>in</a:t>
            </a:r>
            <a:r>
              <a:rPr dirty="0" spc="-135"/>
              <a:t> </a:t>
            </a:r>
            <a:r>
              <a:rPr dirty="0" spc="-35"/>
              <a:t>your</a:t>
            </a:r>
            <a:r>
              <a:rPr dirty="0" spc="-135"/>
              <a:t> </a:t>
            </a:r>
            <a:r>
              <a:rPr dirty="0" spc="-10"/>
              <a:t>studies!</a:t>
            </a:r>
          </a:p>
        </p:txBody>
      </p:sp>
      <p:pic>
        <p:nvPicPr>
          <p:cNvPr id="8" name="object 8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terms:created xsi:type="dcterms:W3CDTF">2025-02-12T07:48:47Z</dcterms:created>
  <dcterms:modified xsi:type="dcterms:W3CDTF">2025-02-12T07:48:47Z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2025-02-12T00:00:00Z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2025-02-12T00:00:00Z</vt:filetime>
  </property>
  <property fmtid="{D5CDD505-2E9C-101B-9397-08002B2CF9AE}" pid="5" name="Producer">
    <vt:lpwstr>GPL Ghostscript 10.02.0</vt:lpwstr>
  </property>
</Properties>
</file>